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hyperlink" Target="https://gamma.app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2084784"/>
            <a:ext cx="7477601" cy="16663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6561"/>
              </a:lnSpc>
              <a:buNone/>
            </a:pPr>
            <a:r>
              <a:rPr lang="en-US" sz="5249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Introduction to Arrays and Pointers</a:t>
            </a:r>
            <a:endParaRPr lang="en-US" sz="5249" dirty="0"/>
          </a:p>
        </p:txBody>
      </p:sp>
      <p:sp>
        <p:nvSpPr>
          <p:cNvPr id="6" name="Text 3"/>
          <p:cNvSpPr/>
          <p:nvPr/>
        </p:nvSpPr>
        <p:spPr>
          <a:xfrm>
            <a:off x="833199" y="4084439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Arrays and pointers are fundamental concepts in C programming. Arrays are a collection of elements of the same data type, accessed using an index. Pointers are variables that store memory addresses, offering power and flexibility in programming.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33199" y="5772626"/>
            <a:ext cx="355402" cy="355402"/>
          </a:xfrm>
          <a:prstGeom prst="roundRect">
            <a:avLst>
              <a:gd name="adj" fmla="val 2572603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19" y="5780246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9686" y="5755958"/>
            <a:ext cx="2785110" cy="3888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3062"/>
              </a:lnSpc>
              <a:buNone/>
            </a:pPr>
            <a:r>
              <a:rPr lang="en-US" sz="2187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by jhansi vaddipalli</a:t>
            </a:r>
            <a:endParaRPr lang="en-US" sz="2187" dirty="0"/>
          </a:p>
        </p:txBody>
      </p:sp>
      <p:pic>
        <p:nvPicPr>
          <p:cNvPr id="10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443395"/>
            <a:ext cx="8957667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Declaring and Initializing Arrays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582108"/>
            <a:ext cx="5166122" cy="1990963"/>
          </a:xfrm>
          <a:prstGeom prst="roundRect">
            <a:avLst>
              <a:gd name="adj" fmla="val 6696"/>
            </a:avLst>
          </a:prstGeom>
          <a:solidFill>
            <a:srgbClr val="EFE7D6"/>
          </a:solidFill>
          <a:ln/>
        </p:spPr>
      </p:sp>
      <p:sp>
        <p:nvSpPr>
          <p:cNvPr id="6" name="Text 4"/>
          <p:cNvSpPr/>
          <p:nvPr/>
        </p:nvSpPr>
        <p:spPr>
          <a:xfrm>
            <a:off x="2260163" y="280427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Array Declaration</a:t>
            </a:r>
            <a:endParaRPr lang="en-US" sz="2187" dirty="0"/>
          </a:p>
        </p:txBody>
      </p:sp>
      <p:sp>
        <p:nvSpPr>
          <p:cNvPr id="7" name="Text 5"/>
          <p:cNvSpPr/>
          <p:nvPr/>
        </p:nvSpPr>
        <p:spPr>
          <a:xfrm>
            <a:off x="2260163" y="3284696"/>
            <a:ext cx="472178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 array is declared by specifying the data type of the elements it will hold and the number of elements in square brackets.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6285" y="2582108"/>
            <a:ext cx="5166122" cy="1990963"/>
          </a:xfrm>
          <a:prstGeom prst="roundRect">
            <a:avLst>
              <a:gd name="adj" fmla="val 6696"/>
            </a:avLst>
          </a:prstGeom>
          <a:solidFill>
            <a:srgbClr val="EFE7D6"/>
          </a:solidFill>
          <a:ln/>
        </p:spPr>
      </p:sp>
      <p:sp>
        <p:nvSpPr>
          <p:cNvPr id="9" name="Text 7"/>
          <p:cNvSpPr/>
          <p:nvPr/>
        </p:nvSpPr>
        <p:spPr>
          <a:xfrm>
            <a:off x="7648456" y="280427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Initializing Arrays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7648456" y="3284696"/>
            <a:ext cx="472178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Arrays can be initialized during declaration or afterward by assigning values to each element using index notation.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2037993" y="4795242"/>
            <a:ext cx="5166122" cy="1990963"/>
          </a:xfrm>
          <a:prstGeom prst="roundRect">
            <a:avLst>
              <a:gd name="adj" fmla="val 6696"/>
            </a:avLst>
          </a:prstGeom>
          <a:solidFill>
            <a:srgbClr val="EFE7D6"/>
          </a:solidFill>
          <a:ln/>
        </p:spPr>
      </p:sp>
      <p:sp>
        <p:nvSpPr>
          <p:cNvPr id="12" name="Text 10"/>
          <p:cNvSpPr/>
          <p:nvPr/>
        </p:nvSpPr>
        <p:spPr>
          <a:xfrm>
            <a:off x="2260163" y="501741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Size of Arrays</a:t>
            </a:r>
            <a:endParaRPr lang="en-US" sz="2187" dirty="0"/>
          </a:p>
        </p:txBody>
      </p:sp>
      <p:sp>
        <p:nvSpPr>
          <p:cNvPr id="13" name="Text 11"/>
          <p:cNvSpPr/>
          <p:nvPr/>
        </p:nvSpPr>
        <p:spPr>
          <a:xfrm>
            <a:off x="2260163" y="5497830"/>
            <a:ext cx="472178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Arrays have a fixed size and the number of elements must be known at compile time, but can be defined using constants.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6285" y="4795242"/>
            <a:ext cx="5166122" cy="1990963"/>
          </a:xfrm>
          <a:prstGeom prst="roundRect">
            <a:avLst>
              <a:gd name="adj" fmla="val 6696"/>
            </a:avLst>
          </a:prstGeom>
          <a:solidFill>
            <a:srgbClr val="EFE7D6"/>
          </a:solidFill>
          <a:ln/>
        </p:spPr>
      </p:sp>
      <p:sp>
        <p:nvSpPr>
          <p:cNvPr id="15" name="Text 13"/>
          <p:cNvSpPr/>
          <p:nvPr/>
        </p:nvSpPr>
        <p:spPr>
          <a:xfrm>
            <a:off x="7648456" y="5017413"/>
            <a:ext cx="3538895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Multi-dimensional Arrays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7648456" y="5497830"/>
            <a:ext cx="472178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Arrays can have multiple dimensions, such as 2D or 3D arrays, to represent tables, matrices, or cubes of data.</a:t>
            </a:r>
            <a:endParaRPr lang="en-US" sz="1750" dirty="0"/>
          </a:p>
        </p:txBody>
      </p:sp>
      <p:pic>
        <p:nvPicPr>
          <p:cNvPr id="17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2132052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Accessing array elements using index notation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393394" y="3965138"/>
            <a:ext cx="1019901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 access the first element of array "arr" in C, use </a:t>
            </a:r>
            <a:pPr algn="l" indent="0" marL="0">
              <a:lnSpc>
                <a:spcPts val="2799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arr[0]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393394" y="4409361"/>
            <a:ext cx="1019901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Similarly, to access the third element of array "nums", use </a:t>
            </a:r>
            <a:pPr algn="l" indent="0" marL="0">
              <a:lnSpc>
                <a:spcPts val="2799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nums[2]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2393394" y="4853583"/>
            <a:ext cx="1019901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Arrays are zero-indexed, so the second element of "data" is </a:t>
            </a:r>
            <a:pPr algn="l" indent="0" marL="0">
              <a:lnSpc>
                <a:spcPts val="2799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data[1]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2393394" y="5297805"/>
            <a:ext cx="1019901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You can also assign values to array elements using index notation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2393394" y="5742027"/>
            <a:ext cx="1019901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For example, </a:t>
            </a:r>
            <a:pPr algn="l" indent="0" marL="0">
              <a:lnSpc>
                <a:spcPts val="2799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arr[3] = 10;</a:t>
            </a:r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assigns 10 to the fourth element of "arr"</a:t>
            </a:r>
            <a:endParaRPr lang="en-US" sz="1750" dirty="0"/>
          </a:p>
        </p:txBody>
      </p:sp>
      <p:pic>
        <p:nvPicPr>
          <p:cNvPr id="10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9102685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4" name="Text 2"/>
          <p:cNvSpPr/>
          <p:nvPr/>
        </p:nvSpPr>
        <p:spPr>
          <a:xfrm>
            <a:off x="3621167" y="427673"/>
            <a:ext cx="4054078" cy="48601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827"/>
              </a:lnSpc>
              <a:buNone/>
            </a:pPr>
            <a:r>
              <a:rPr lang="en-US" sz="3062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Initializing an Array</a:t>
            </a:r>
            <a:endParaRPr lang="en-US" sz="3062" dirty="0"/>
          </a:p>
        </p:txBody>
      </p:sp>
      <p:sp>
        <p:nvSpPr>
          <p:cNvPr id="5" name="Text 3"/>
          <p:cNvSpPr/>
          <p:nvPr/>
        </p:nvSpPr>
        <p:spPr>
          <a:xfrm>
            <a:off x="3621167" y="1224677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endParaRPr lang="en-US" sz="1225" dirty="0"/>
          </a:p>
        </p:txBody>
      </p:sp>
      <p:sp>
        <p:nvSpPr>
          <p:cNvPr id="6" name="Text 4"/>
          <p:cNvSpPr/>
          <p:nvPr/>
        </p:nvSpPr>
        <p:spPr>
          <a:xfrm>
            <a:off x="3621167" y="1648301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#include &lt;stdio.h&gt;</a:t>
            </a:r>
            <a:endParaRPr lang="en-US" sz="1225" dirty="0"/>
          </a:p>
        </p:txBody>
      </p:sp>
      <p:sp>
        <p:nvSpPr>
          <p:cNvPr id="7" name="Text 5"/>
          <p:cNvSpPr/>
          <p:nvPr/>
        </p:nvSpPr>
        <p:spPr>
          <a:xfrm>
            <a:off x="3621167" y="2071926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 main() { </a:t>
            </a:r>
            <a:endParaRPr lang="en-US" sz="1225" dirty="0"/>
          </a:p>
        </p:txBody>
      </p:sp>
      <p:sp>
        <p:nvSpPr>
          <p:cNvPr id="8" name="Text 6"/>
          <p:cNvSpPr/>
          <p:nvPr/>
        </p:nvSpPr>
        <p:spPr>
          <a:xfrm>
            <a:off x="3621167" y="2495550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// Initializing an array with 5 elements </a:t>
            </a:r>
            <a:endParaRPr lang="en-US" sz="1225" dirty="0"/>
          </a:p>
        </p:txBody>
      </p:sp>
      <p:sp>
        <p:nvSpPr>
          <p:cNvPr id="9" name="Text 7"/>
          <p:cNvSpPr/>
          <p:nvPr/>
        </p:nvSpPr>
        <p:spPr>
          <a:xfrm>
            <a:off x="3621167" y="2919174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 arr[5] = {10, 20, 30, 40, 50};</a:t>
            </a:r>
            <a:endParaRPr lang="en-US" sz="1225" dirty="0"/>
          </a:p>
        </p:txBody>
      </p:sp>
      <p:sp>
        <p:nvSpPr>
          <p:cNvPr id="10" name="Text 8"/>
          <p:cNvSpPr/>
          <p:nvPr/>
        </p:nvSpPr>
        <p:spPr>
          <a:xfrm>
            <a:off x="3621167" y="3342799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// Printing array elements </a:t>
            </a:r>
            <a:endParaRPr lang="en-US" sz="1225" dirty="0"/>
          </a:p>
        </p:txBody>
      </p:sp>
      <p:sp>
        <p:nvSpPr>
          <p:cNvPr id="11" name="Text 9"/>
          <p:cNvSpPr/>
          <p:nvPr/>
        </p:nvSpPr>
        <p:spPr>
          <a:xfrm>
            <a:off x="3621167" y="3766423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printf("Array elements: ");</a:t>
            </a:r>
            <a:endParaRPr lang="en-US" sz="1225" dirty="0"/>
          </a:p>
        </p:txBody>
      </p:sp>
      <p:sp>
        <p:nvSpPr>
          <p:cNvPr id="12" name="Text 10"/>
          <p:cNvSpPr/>
          <p:nvPr/>
        </p:nvSpPr>
        <p:spPr>
          <a:xfrm>
            <a:off x="3621167" y="4190048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(int i = 0; i &lt; 5; i++) </a:t>
            </a:r>
            <a:endParaRPr lang="en-US" sz="1225" dirty="0"/>
          </a:p>
        </p:txBody>
      </p:sp>
      <p:sp>
        <p:nvSpPr>
          <p:cNvPr id="13" name="Text 11"/>
          <p:cNvSpPr/>
          <p:nvPr/>
        </p:nvSpPr>
        <p:spPr>
          <a:xfrm>
            <a:off x="3621167" y="4613672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{ </a:t>
            </a:r>
            <a:endParaRPr lang="en-US" sz="1225" dirty="0"/>
          </a:p>
        </p:txBody>
      </p:sp>
      <p:sp>
        <p:nvSpPr>
          <p:cNvPr id="14" name="Text 12"/>
          <p:cNvSpPr/>
          <p:nvPr/>
        </p:nvSpPr>
        <p:spPr>
          <a:xfrm>
            <a:off x="3621167" y="5037296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printf("%d ", arr[i]);</a:t>
            </a:r>
            <a:endParaRPr lang="en-US" sz="1225" dirty="0"/>
          </a:p>
        </p:txBody>
      </p:sp>
      <p:sp>
        <p:nvSpPr>
          <p:cNvPr id="15" name="Text 13"/>
          <p:cNvSpPr/>
          <p:nvPr/>
        </p:nvSpPr>
        <p:spPr>
          <a:xfrm>
            <a:off x="3621167" y="5460921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} </a:t>
            </a:r>
            <a:endParaRPr lang="en-US" sz="1225" dirty="0"/>
          </a:p>
        </p:txBody>
      </p:sp>
      <p:sp>
        <p:nvSpPr>
          <p:cNvPr id="16" name="Text 14"/>
          <p:cNvSpPr/>
          <p:nvPr/>
        </p:nvSpPr>
        <p:spPr>
          <a:xfrm>
            <a:off x="3621167" y="5884545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printf("\n");</a:t>
            </a:r>
            <a:endParaRPr lang="en-US" sz="1225" dirty="0"/>
          </a:p>
        </p:txBody>
      </p:sp>
      <p:sp>
        <p:nvSpPr>
          <p:cNvPr id="17" name="Text 15"/>
          <p:cNvSpPr/>
          <p:nvPr/>
        </p:nvSpPr>
        <p:spPr>
          <a:xfrm>
            <a:off x="3621167" y="6308169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return 0; </a:t>
            </a:r>
            <a:endParaRPr lang="en-US" sz="1225" dirty="0"/>
          </a:p>
        </p:txBody>
      </p:sp>
      <p:sp>
        <p:nvSpPr>
          <p:cNvPr id="18" name="Text 16"/>
          <p:cNvSpPr/>
          <p:nvPr/>
        </p:nvSpPr>
        <p:spPr>
          <a:xfrm>
            <a:off x="3621167" y="6731794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}</a:t>
            </a:r>
            <a:endParaRPr lang="en-US" sz="1225" dirty="0"/>
          </a:p>
        </p:txBody>
      </p:sp>
      <p:sp>
        <p:nvSpPr>
          <p:cNvPr id="19" name="Text 17"/>
          <p:cNvSpPr/>
          <p:nvPr/>
        </p:nvSpPr>
        <p:spPr>
          <a:xfrm>
            <a:off x="3621167" y="7155418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endParaRPr lang="en-US" sz="1225" dirty="0"/>
          </a:p>
        </p:txBody>
      </p:sp>
      <p:sp>
        <p:nvSpPr>
          <p:cNvPr id="20" name="Text 18"/>
          <p:cNvSpPr/>
          <p:nvPr/>
        </p:nvSpPr>
        <p:spPr>
          <a:xfrm>
            <a:off x="3621167" y="7579042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endParaRPr lang="en-US" sz="1225" dirty="0"/>
          </a:p>
        </p:txBody>
      </p:sp>
      <p:sp>
        <p:nvSpPr>
          <p:cNvPr id="21" name="Text 19"/>
          <p:cNvSpPr/>
          <p:nvPr/>
        </p:nvSpPr>
        <p:spPr>
          <a:xfrm>
            <a:off x="3621167" y="8002667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endParaRPr lang="en-US" sz="1225" dirty="0"/>
          </a:p>
        </p:txBody>
      </p:sp>
      <p:sp>
        <p:nvSpPr>
          <p:cNvPr id="22" name="Text 20"/>
          <p:cNvSpPr/>
          <p:nvPr/>
        </p:nvSpPr>
        <p:spPr>
          <a:xfrm>
            <a:off x="3621167" y="8426291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endParaRPr lang="en-US" sz="1225" dirty="0"/>
          </a:p>
        </p:txBody>
      </p:sp>
      <p:pic>
        <p:nvPicPr>
          <p:cNvPr id="2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957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4" name="Text 2"/>
          <p:cNvSpPr/>
          <p:nvPr/>
        </p:nvSpPr>
        <p:spPr>
          <a:xfrm>
            <a:off x="3247073" y="471011"/>
            <a:ext cx="8136136" cy="1070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15"/>
              </a:lnSpc>
              <a:buNone/>
            </a:pPr>
            <a:r>
              <a:rPr lang="en-US" sz="3372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Finding Maximum Element in an Array</a:t>
            </a:r>
            <a:endParaRPr lang="en-US" sz="3372" dirty="0"/>
          </a:p>
        </p:txBody>
      </p:sp>
      <p:sp>
        <p:nvSpPr>
          <p:cNvPr id="5" name="Text 3"/>
          <p:cNvSpPr/>
          <p:nvPr/>
        </p:nvSpPr>
        <p:spPr>
          <a:xfrm>
            <a:off x="3247073" y="1884164"/>
            <a:ext cx="8136136" cy="2740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58"/>
              </a:lnSpc>
              <a:buNone/>
            </a:pPr>
            <a:r>
              <a:rPr lang="en-US" sz="1349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#include &lt;stdio.h&gt;</a:t>
            </a:r>
            <a:endParaRPr lang="en-US" sz="1349" dirty="0"/>
          </a:p>
        </p:txBody>
      </p:sp>
      <p:sp>
        <p:nvSpPr>
          <p:cNvPr id="6" name="Text 4"/>
          <p:cNvSpPr/>
          <p:nvPr/>
        </p:nvSpPr>
        <p:spPr>
          <a:xfrm>
            <a:off x="3247073" y="2350889"/>
            <a:ext cx="8136136" cy="2740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58"/>
              </a:lnSpc>
              <a:buNone/>
            </a:pPr>
            <a:r>
              <a:rPr lang="en-US" sz="1349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 main() { int arr[5] = {10, 20, 30, 40, 50}; </a:t>
            </a:r>
            <a:endParaRPr lang="en-US" sz="1349" dirty="0"/>
          </a:p>
        </p:txBody>
      </p:sp>
      <p:sp>
        <p:nvSpPr>
          <p:cNvPr id="7" name="Text 5"/>
          <p:cNvSpPr/>
          <p:nvPr/>
        </p:nvSpPr>
        <p:spPr>
          <a:xfrm>
            <a:off x="3247073" y="2817614"/>
            <a:ext cx="8136136" cy="2740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58"/>
              </a:lnSpc>
              <a:buNone/>
            </a:pPr>
            <a:r>
              <a:rPr lang="en-US" sz="1349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 max = arr[0];</a:t>
            </a:r>
            <a:endParaRPr lang="en-US" sz="1349" dirty="0"/>
          </a:p>
        </p:txBody>
      </p:sp>
      <p:sp>
        <p:nvSpPr>
          <p:cNvPr id="8" name="Text 6"/>
          <p:cNvSpPr/>
          <p:nvPr/>
        </p:nvSpPr>
        <p:spPr>
          <a:xfrm>
            <a:off x="3247073" y="3284339"/>
            <a:ext cx="8136136" cy="2740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58"/>
              </a:lnSpc>
              <a:buNone/>
            </a:pPr>
            <a:r>
              <a:rPr lang="en-US" sz="1349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for (int i = 1; i &lt; 5; i++)</a:t>
            </a:r>
            <a:endParaRPr lang="en-US" sz="1349" dirty="0"/>
          </a:p>
        </p:txBody>
      </p:sp>
      <p:sp>
        <p:nvSpPr>
          <p:cNvPr id="9" name="Text 7"/>
          <p:cNvSpPr/>
          <p:nvPr/>
        </p:nvSpPr>
        <p:spPr>
          <a:xfrm>
            <a:off x="3247073" y="3751064"/>
            <a:ext cx="8136136" cy="2740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58"/>
              </a:lnSpc>
              <a:buNone/>
            </a:pPr>
            <a:r>
              <a:rPr lang="en-US" sz="1349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{</a:t>
            </a:r>
            <a:endParaRPr lang="en-US" sz="1349" dirty="0"/>
          </a:p>
        </p:txBody>
      </p:sp>
      <p:sp>
        <p:nvSpPr>
          <p:cNvPr id="10" name="Text 8"/>
          <p:cNvSpPr/>
          <p:nvPr/>
        </p:nvSpPr>
        <p:spPr>
          <a:xfrm>
            <a:off x="3247073" y="4217789"/>
            <a:ext cx="8136136" cy="2740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58"/>
              </a:lnSpc>
              <a:buNone/>
            </a:pPr>
            <a:r>
              <a:rPr lang="en-US" sz="1349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if (arr[i] &gt; max)</a:t>
            </a:r>
            <a:endParaRPr lang="en-US" sz="1349" dirty="0"/>
          </a:p>
        </p:txBody>
      </p:sp>
      <p:sp>
        <p:nvSpPr>
          <p:cNvPr id="11" name="Text 9"/>
          <p:cNvSpPr/>
          <p:nvPr/>
        </p:nvSpPr>
        <p:spPr>
          <a:xfrm>
            <a:off x="3247073" y="4684514"/>
            <a:ext cx="8136136" cy="2740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58"/>
              </a:lnSpc>
              <a:buNone/>
            </a:pPr>
            <a:r>
              <a:rPr lang="en-US" sz="1349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{ </a:t>
            </a:r>
            <a:endParaRPr lang="en-US" sz="1349" dirty="0"/>
          </a:p>
        </p:txBody>
      </p:sp>
      <p:sp>
        <p:nvSpPr>
          <p:cNvPr id="12" name="Text 10"/>
          <p:cNvSpPr/>
          <p:nvPr/>
        </p:nvSpPr>
        <p:spPr>
          <a:xfrm>
            <a:off x="3247073" y="5151239"/>
            <a:ext cx="8136136" cy="2740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58"/>
              </a:lnSpc>
              <a:buNone/>
            </a:pPr>
            <a:r>
              <a:rPr lang="en-US" sz="1349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max = arr[i]; </a:t>
            </a:r>
            <a:endParaRPr lang="en-US" sz="1349" dirty="0"/>
          </a:p>
        </p:txBody>
      </p:sp>
      <p:sp>
        <p:nvSpPr>
          <p:cNvPr id="13" name="Text 11"/>
          <p:cNvSpPr/>
          <p:nvPr/>
        </p:nvSpPr>
        <p:spPr>
          <a:xfrm>
            <a:off x="3247073" y="5617964"/>
            <a:ext cx="8136136" cy="2740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58"/>
              </a:lnSpc>
              <a:buNone/>
            </a:pPr>
            <a:r>
              <a:rPr lang="en-US" sz="1349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} </a:t>
            </a:r>
            <a:endParaRPr lang="en-US" sz="1349" dirty="0"/>
          </a:p>
        </p:txBody>
      </p:sp>
      <p:sp>
        <p:nvSpPr>
          <p:cNvPr id="14" name="Text 12"/>
          <p:cNvSpPr/>
          <p:nvPr/>
        </p:nvSpPr>
        <p:spPr>
          <a:xfrm>
            <a:off x="3247073" y="6084689"/>
            <a:ext cx="8136136" cy="2740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58"/>
              </a:lnSpc>
              <a:buNone/>
            </a:pPr>
            <a:r>
              <a:rPr lang="en-US" sz="1349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}</a:t>
            </a:r>
            <a:endParaRPr lang="en-US" sz="1349" dirty="0"/>
          </a:p>
        </p:txBody>
      </p:sp>
      <p:sp>
        <p:nvSpPr>
          <p:cNvPr id="15" name="Text 13"/>
          <p:cNvSpPr/>
          <p:nvPr/>
        </p:nvSpPr>
        <p:spPr>
          <a:xfrm>
            <a:off x="3247073" y="6551414"/>
            <a:ext cx="8136136" cy="2740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58"/>
              </a:lnSpc>
              <a:buNone/>
            </a:pPr>
            <a:r>
              <a:rPr lang="en-US" sz="1349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printf("Maximum element in the array: %d\n", max);</a:t>
            </a:r>
            <a:endParaRPr lang="en-US" sz="1349" dirty="0"/>
          </a:p>
        </p:txBody>
      </p:sp>
      <p:sp>
        <p:nvSpPr>
          <p:cNvPr id="16" name="Text 14"/>
          <p:cNvSpPr/>
          <p:nvPr/>
        </p:nvSpPr>
        <p:spPr>
          <a:xfrm>
            <a:off x="3247073" y="7018139"/>
            <a:ext cx="8136136" cy="2740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58"/>
              </a:lnSpc>
              <a:buNone/>
            </a:pPr>
            <a:r>
              <a:rPr lang="en-US" sz="1349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return 0;</a:t>
            </a:r>
            <a:endParaRPr lang="en-US" sz="1349" dirty="0"/>
          </a:p>
        </p:txBody>
      </p:sp>
      <p:sp>
        <p:nvSpPr>
          <p:cNvPr id="17" name="Text 15"/>
          <p:cNvSpPr/>
          <p:nvPr/>
        </p:nvSpPr>
        <p:spPr>
          <a:xfrm>
            <a:off x="3247073" y="7484864"/>
            <a:ext cx="8136136" cy="2740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58"/>
              </a:lnSpc>
              <a:buNone/>
            </a:pPr>
            <a:r>
              <a:rPr lang="en-US" sz="1349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}</a:t>
            </a:r>
            <a:endParaRPr lang="en-US" sz="1349" dirty="0"/>
          </a:p>
        </p:txBody>
      </p:sp>
      <p:pic>
        <p:nvPicPr>
          <p:cNvPr id="18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1412796"/>
            <a:ext cx="7477601" cy="2083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Pointer Variables and Their Role in C Programming</a:t>
            </a:r>
            <a:endParaRPr lang="en-US" sz="4374" dirty="0"/>
          </a:p>
        </p:txBody>
      </p:sp>
      <p:sp>
        <p:nvSpPr>
          <p:cNvPr id="6" name="Text 3"/>
          <p:cNvSpPr/>
          <p:nvPr/>
        </p:nvSpPr>
        <p:spPr>
          <a:xfrm>
            <a:off x="833199" y="3829169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 C programming, pointer variables are used to store memory addresses. They play a crucial role in dynamic memory allocation and efficient memory management.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33199" y="5145286"/>
            <a:ext cx="7477601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Pointers allow direct access to memory locations, enabling manipulation of data and efficient passing of references in functions.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33199" y="6106001"/>
            <a:ext cx="7477601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Understanding pointer variables is essential for advanced memory handling and efficient data manipulation in C programming.</a:t>
            </a:r>
            <a:endParaRPr lang="en-US" sz="1750" dirty="0"/>
          </a:p>
        </p:txBody>
      </p:sp>
      <p:pic>
        <p:nvPicPr>
          <p:cNvPr id="9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2036921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Declaring and initializing pointer variables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3870008"/>
            <a:ext cx="10554414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 C programming, a pointer is a variable that holds the memory address of another variable. To declare a pointer, we use the asterisk (*) symbol followed by the data type it points to.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037993" y="4830723"/>
            <a:ext cx="10554414" cy="733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For example, to declare a pointer to an integer, we use </a:t>
            </a:r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highlight>
                  <a:srgbClr val="F5F2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*ptr;</a:t>
            </a:r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which creates a pointer variable </a:t>
            </a:r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highlight>
                  <a:srgbClr val="F5F2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ptr</a:t>
            </a:r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pointing to an integer.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2037993" y="5814298"/>
            <a:ext cx="10554414" cy="37826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Initializing a pointer involves assigning the address of another variable to the pointer using the </a:t>
            </a:r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highlight>
                  <a:srgbClr val="F5F2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operator.</a:t>
            </a:r>
            <a:endParaRPr lang="en-US" sz="1750" dirty="0"/>
          </a:p>
        </p:txBody>
      </p:sp>
      <p:pic>
        <p:nvPicPr>
          <p:cNvPr id="8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068705"/>
            <a:ext cx="7802285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Initializing pointer variables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207419"/>
            <a:ext cx="10554414" cy="4953357"/>
          </a:xfrm>
          <a:prstGeom prst="roundRect">
            <a:avLst>
              <a:gd name="adj" fmla="val 2691"/>
            </a:avLst>
          </a:prstGeom>
          <a:solidFill>
            <a:srgbClr val="F5F2EF"/>
          </a:solidFill>
          <a:ln/>
        </p:spPr>
      </p:sp>
      <p:sp>
        <p:nvSpPr>
          <p:cNvPr id="6" name="Shape 4"/>
          <p:cNvSpPr/>
          <p:nvPr/>
        </p:nvSpPr>
        <p:spPr>
          <a:xfrm>
            <a:off x="2026920" y="2207419"/>
            <a:ext cx="10576560" cy="4953357"/>
          </a:xfrm>
          <a:prstGeom prst="roundRect">
            <a:avLst>
              <a:gd name="adj" fmla="val 673"/>
            </a:avLst>
          </a:prstGeom>
          <a:solidFill>
            <a:srgbClr val="F5F2EF"/>
          </a:solidFill>
          <a:ln/>
        </p:spPr>
      </p:sp>
      <p:sp>
        <p:nvSpPr>
          <p:cNvPr id="7" name="Text 5"/>
          <p:cNvSpPr/>
          <p:nvPr/>
        </p:nvSpPr>
        <p:spPr>
          <a:xfrm>
            <a:off x="2249091" y="2373987"/>
            <a:ext cx="10132219" cy="4620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highlight>
                  <a:srgbClr val="F5F2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
int main() {
    int num = 10;
    int *ptr;
    // Assigning the address of 'num' to the pointer
    ptr = &amp;num;
    // Accessing the value of 'num' using the pointer
    printf("Value of num: %d\n", *ptr);
</a:t>
            </a:r>
            <a:endParaRPr lang="en-US" sz="1750" dirty="0"/>
          </a:p>
        </p:txBody>
      </p:sp>
      <p:pic>
        <p:nvPicPr>
          <p:cNvPr id="8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74145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4" name="Text 2"/>
          <p:cNvSpPr/>
          <p:nvPr/>
        </p:nvSpPr>
        <p:spPr>
          <a:xfrm>
            <a:off x="3621167" y="427673"/>
            <a:ext cx="7388066" cy="9720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827"/>
              </a:lnSpc>
              <a:buNone/>
            </a:pPr>
            <a:r>
              <a:rPr lang="en-US" sz="3062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Swapping Two Numbers Using Pointers</a:t>
            </a:r>
            <a:endParaRPr lang="en-US" sz="3062" dirty="0"/>
          </a:p>
        </p:txBody>
      </p:sp>
      <p:sp>
        <p:nvSpPr>
          <p:cNvPr id="5" name="Text 3"/>
          <p:cNvSpPr/>
          <p:nvPr/>
        </p:nvSpPr>
        <p:spPr>
          <a:xfrm>
            <a:off x="3621167" y="1710690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#include &lt;stdio.h&gt;</a:t>
            </a:r>
            <a:endParaRPr lang="en-US" sz="1225" dirty="0"/>
          </a:p>
        </p:txBody>
      </p:sp>
      <p:sp>
        <p:nvSpPr>
          <p:cNvPr id="6" name="Text 4"/>
          <p:cNvSpPr/>
          <p:nvPr/>
        </p:nvSpPr>
        <p:spPr>
          <a:xfrm>
            <a:off x="3621167" y="2134314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void swap(int *a, int *b) </a:t>
            </a:r>
            <a:endParaRPr lang="en-US" sz="1225" dirty="0"/>
          </a:p>
        </p:txBody>
      </p:sp>
      <p:sp>
        <p:nvSpPr>
          <p:cNvPr id="7" name="Text 5"/>
          <p:cNvSpPr/>
          <p:nvPr/>
        </p:nvSpPr>
        <p:spPr>
          <a:xfrm>
            <a:off x="3621167" y="2557939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{ </a:t>
            </a:r>
            <a:endParaRPr lang="en-US" sz="1225" dirty="0"/>
          </a:p>
        </p:txBody>
      </p:sp>
      <p:sp>
        <p:nvSpPr>
          <p:cNvPr id="8" name="Text 6"/>
          <p:cNvSpPr/>
          <p:nvPr/>
        </p:nvSpPr>
        <p:spPr>
          <a:xfrm>
            <a:off x="3621167" y="2981563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 temp = *a; </a:t>
            </a:r>
            <a:endParaRPr lang="en-US" sz="1225" dirty="0"/>
          </a:p>
        </p:txBody>
      </p:sp>
      <p:sp>
        <p:nvSpPr>
          <p:cNvPr id="9" name="Text 7"/>
          <p:cNvSpPr/>
          <p:nvPr/>
        </p:nvSpPr>
        <p:spPr>
          <a:xfrm>
            <a:off x="3621167" y="3405188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*a = *b;</a:t>
            </a:r>
            <a:endParaRPr lang="en-US" sz="1225" dirty="0"/>
          </a:p>
        </p:txBody>
      </p:sp>
      <p:sp>
        <p:nvSpPr>
          <p:cNvPr id="10" name="Text 8"/>
          <p:cNvSpPr/>
          <p:nvPr/>
        </p:nvSpPr>
        <p:spPr>
          <a:xfrm>
            <a:off x="3621167" y="3828812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*b = temp;</a:t>
            </a:r>
            <a:endParaRPr lang="en-US" sz="1225" dirty="0"/>
          </a:p>
        </p:txBody>
      </p:sp>
      <p:sp>
        <p:nvSpPr>
          <p:cNvPr id="11" name="Text 9"/>
          <p:cNvSpPr/>
          <p:nvPr/>
        </p:nvSpPr>
        <p:spPr>
          <a:xfrm>
            <a:off x="3621167" y="4252436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}</a:t>
            </a:r>
            <a:endParaRPr lang="en-US" sz="1225" dirty="0"/>
          </a:p>
        </p:txBody>
      </p:sp>
      <p:sp>
        <p:nvSpPr>
          <p:cNvPr id="12" name="Text 10"/>
          <p:cNvSpPr/>
          <p:nvPr/>
        </p:nvSpPr>
        <p:spPr>
          <a:xfrm>
            <a:off x="3621167" y="4676061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 main() </a:t>
            </a:r>
            <a:endParaRPr lang="en-US" sz="1225" dirty="0"/>
          </a:p>
        </p:txBody>
      </p:sp>
      <p:sp>
        <p:nvSpPr>
          <p:cNvPr id="13" name="Text 11"/>
          <p:cNvSpPr/>
          <p:nvPr/>
        </p:nvSpPr>
        <p:spPr>
          <a:xfrm>
            <a:off x="3621167" y="5099685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{ </a:t>
            </a:r>
            <a:endParaRPr lang="en-US" sz="1225" dirty="0"/>
          </a:p>
        </p:txBody>
      </p:sp>
      <p:sp>
        <p:nvSpPr>
          <p:cNvPr id="14" name="Text 12"/>
          <p:cNvSpPr/>
          <p:nvPr/>
        </p:nvSpPr>
        <p:spPr>
          <a:xfrm>
            <a:off x="3621167" y="5523309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 x = 5, y = 10;</a:t>
            </a:r>
            <a:endParaRPr lang="en-US" sz="1225" dirty="0"/>
          </a:p>
        </p:txBody>
      </p:sp>
      <p:sp>
        <p:nvSpPr>
          <p:cNvPr id="15" name="Text 13"/>
          <p:cNvSpPr/>
          <p:nvPr/>
        </p:nvSpPr>
        <p:spPr>
          <a:xfrm>
            <a:off x="3621167" y="5946934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printf("Before swapping: x = %d, y = %d\n", x, y); </a:t>
            </a:r>
            <a:endParaRPr lang="en-US" sz="1225" dirty="0"/>
          </a:p>
        </p:txBody>
      </p:sp>
      <p:sp>
        <p:nvSpPr>
          <p:cNvPr id="16" name="Text 14"/>
          <p:cNvSpPr/>
          <p:nvPr/>
        </p:nvSpPr>
        <p:spPr>
          <a:xfrm>
            <a:off x="3621167" y="6370558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swap(&amp;x, &amp;y); </a:t>
            </a:r>
            <a:endParaRPr lang="en-US" sz="1225" dirty="0"/>
          </a:p>
        </p:txBody>
      </p:sp>
      <p:sp>
        <p:nvSpPr>
          <p:cNvPr id="17" name="Text 15"/>
          <p:cNvSpPr/>
          <p:nvPr/>
        </p:nvSpPr>
        <p:spPr>
          <a:xfrm>
            <a:off x="3621167" y="6794183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printf("After swapping: x = %d, y = %d\n", x, y); </a:t>
            </a:r>
            <a:endParaRPr lang="en-US" sz="1225" dirty="0"/>
          </a:p>
        </p:txBody>
      </p:sp>
      <p:sp>
        <p:nvSpPr>
          <p:cNvPr id="18" name="Text 16"/>
          <p:cNvSpPr/>
          <p:nvPr/>
        </p:nvSpPr>
        <p:spPr>
          <a:xfrm>
            <a:off x="3621167" y="7217807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return 0; </a:t>
            </a:r>
            <a:endParaRPr lang="en-US" sz="1225" dirty="0"/>
          </a:p>
        </p:txBody>
      </p:sp>
      <p:sp>
        <p:nvSpPr>
          <p:cNvPr id="19" name="Text 17"/>
          <p:cNvSpPr/>
          <p:nvPr/>
        </p:nvSpPr>
        <p:spPr>
          <a:xfrm>
            <a:off x="3621167" y="7641431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}</a:t>
            </a:r>
            <a:endParaRPr lang="en-US" sz="1225" dirty="0"/>
          </a:p>
        </p:txBody>
      </p:sp>
      <p:sp>
        <p:nvSpPr>
          <p:cNvPr id="20" name="Text 18"/>
          <p:cNvSpPr/>
          <p:nvPr/>
        </p:nvSpPr>
        <p:spPr>
          <a:xfrm>
            <a:off x="3621167" y="8065056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endParaRPr lang="en-US" sz="1225" dirty="0"/>
          </a:p>
        </p:txBody>
      </p:sp>
      <p:pic>
        <p:nvPicPr>
          <p:cNvPr id="21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2091690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Dereferencing Pointers to Access Memory Locations</a:t>
            </a:r>
            <a:endParaRPr lang="en-US" sz="4374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7993" y="3924776"/>
            <a:ext cx="444341" cy="4443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37993" y="4591288"/>
            <a:ext cx="3050977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Dereferencing Pointer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037993" y="5071705"/>
            <a:ext cx="329588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 the * operator to access the value pointed by a pointer.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137" y="3924776"/>
            <a:ext cx="444341" cy="4443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7137" y="459128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Memory Location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5667137" y="5071705"/>
            <a:ext cx="3296007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Pointers allow direct access to memory locations for reading or writing.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0" y="3924776"/>
            <a:ext cx="444341" cy="4443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96400" y="459128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Variable Address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9296400" y="5071705"/>
            <a:ext cx="3296007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Pointers hold the address of a variable, enabling direct manipulation.</a:t>
            </a:r>
            <a:endParaRPr lang="en-US" sz="1750" dirty="0"/>
          </a:p>
        </p:txBody>
      </p:sp>
      <p:pic>
        <p:nvPicPr>
          <p:cNvPr id="14" name="Image 3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>
              <a:alpha val="8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037993" y="804505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Pointer Arithmetic and Its Applications</a:t>
            </a:r>
            <a:endParaRPr lang="en-US" sz="4374" dirty="0"/>
          </a:p>
        </p:txBody>
      </p:sp>
      <p:sp>
        <p:nvSpPr>
          <p:cNvPr id="7" name="Shape 4"/>
          <p:cNvSpPr/>
          <p:nvPr/>
        </p:nvSpPr>
        <p:spPr>
          <a:xfrm>
            <a:off x="7293054" y="2526506"/>
            <a:ext cx="44410" cy="4898469"/>
          </a:xfrm>
          <a:prstGeom prst="rect">
            <a:avLst/>
          </a:prstGeom>
          <a:solidFill>
            <a:srgbClr val="D2CCC5"/>
          </a:solidFill>
          <a:ln/>
        </p:spPr>
      </p:sp>
      <p:sp>
        <p:nvSpPr>
          <p:cNvPr id="8" name="Shape 5"/>
          <p:cNvSpPr/>
          <p:nvPr/>
        </p:nvSpPr>
        <p:spPr>
          <a:xfrm>
            <a:off x="6287631" y="2927806"/>
            <a:ext cx="777597" cy="44410"/>
          </a:xfrm>
          <a:prstGeom prst="rect">
            <a:avLst/>
          </a:prstGeom>
          <a:solidFill>
            <a:srgbClr val="D2CCC5"/>
          </a:solidFill>
          <a:ln/>
        </p:spPr>
      </p:sp>
      <p:sp>
        <p:nvSpPr>
          <p:cNvPr id="9" name="Shape 6"/>
          <p:cNvSpPr/>
          <p:nvPr/>
        </p:nvSpPr>
        <p:spPr>
          <a:xfrm>
            <a:off x="7065228" y="2700099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EFE7D6"/>
          </a:solidFill>
          <a:ln/>
        </p:spPr>
      </p:sp>
      <p:sp>
        <p:nvSpPr>
          <p:cNvPr id="10" name="Text 7"/>
          <p:cNvSpPr/>
          <p:nvPr/>
        </p:nvSpPr>
        <p:spPr>
          <a:xfrm>
            <a:off x="7236559" y="2741771"/>
            <a:ext cx="15728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624" dirty="0"/>
          </a:p>
        </p:txBody>
      </p:sp>
      <p:sp>
        <p:nvSpPr>
          <p:cNvPr id="11" name="Text 8"/>
          <p:cNvSpPr/>
          <p:nvPr/>
        </p:nvSpPr>
        <p:spPr>
          <a:xfrm>
            <a:off x="2037993" y="2748677"/>
            <a:ext cx="40551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Memory Address Manipulation</a:t>
            </a:r>
            <a:endParaRPr lang="en-US" sz="2187" dirty="0"/>
          </a:p>
        </p:txBody>
      </p:sp>
      <p:sp>
        <p:nvSpPr>
          <p:cNvPr id="12" name="Text 9"/>
          <p:cNvSpPr/>
          <p:nvPr/>
        </p:nvSpPr>
        <p:spPr>
          <a:xfrm>
            <a:off x="2037993" y="3576280"/>
            <a:ext cx="4055150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Pointer arithmetic involves directly manipulating memory addresses to access, allocate, or deallocate memory.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565172" y="4038660"/>
            <a:ext cx="777597" cy="44410"/>
          </a:xfrm>
          <a:prstGeom prst="rect">
            <a:avLst/>
          </a:prstGeom>
          <a:solidFill>
            <a:srgbClr val="D2CCC5"/>
          </a:solidFill>
          <a:ln/>
        </p:spPr>
      </p:sp>
      <p:sp>
        <p:nvSpPr>
          <p:cNvPr id="14" name="Shape 11"/>
          <p:cNvSpPr/>
          <p:nvPr/>
        </p:nvSpPr>
        <p:spPr>
          <a:xfrm>
            <a:off x="7065228" y="3810953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EFE7D6"/>
          </a:solidFill>
          <a:ln/>
        </p:spPr>
      </p:sp>
      <p:sp>
        <p:nvSpPr>
          <p:cNvPr id="15" name="Text 12"/>
          <p:cNvSpPr/>
          <p:nvPr/>
        </p:nvSpPr>
        <p:spPr>
          <a:xfrm>
            <a:off x="7214175" y="3852624"/>
            <a:ext cx="202049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624" dirty="0"/>
          </a:p>
        </p:txBody>
      </p:sp>
      <p:sp>
        <p:nvSpPr>
          <p:cNvPr id="16" name="Text 13"/>
          <p:cNvSpPr/>
          <p:nvPr/>
        </p:nvSpPr>
        <p:spPr>
          <a:xfrm>
            <a:off x="8537258" y="3859530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Array Traversal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8537258" y="4339947"/>
            <a:ext cx="4055150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Using pointers to navigate through arrays is a common application of pointer arithmetic in C programming.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6287631" y="5488126"/>
            <a:ext cx="777597" cy="44410"/>
          </a:xfrm>
          <a:prstGeom prst="rect">
            <a:avLst/>
          </a:prstGeom>
          <a:solidFill>
            <a:srgbClr val="D2CCC5"/>
          </a:solidFill>
          <a:ln/>
        </p:spPr>
      </p:sp>
      <p:sp>
        <p:nvSpPr>
          <p:cNvPr id="19" name="Shape 16"/>
          <p:cNvSpPr/>
          <p:nvPr/>
        </p:nvSpPr>
        <p:spPr>
          <a:xfrm>
            <a:off x="7065228" y="5260419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EFE7D6"/>
          </a:solidFill>
          <a:ln/>
        </p:spPr>
      </p:sp>
      <p:sp>
        <p:nvSpPr>
          <p:cNvPr id="20" name="Text 17"/>
          <p:cNvSpPr/>
          <p:nvPr/>
        </p:nvSpPr>
        <p:spPr>
          <a:xfrm>
            <a:off x="7214771" y="5302091"/>
            <a:ext cx="200858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624" dirty="0"/>
          </a:p>
        </p:txBody>
      </p:sp>
      <p:sp>
        <p:nvSpPr>
          <p:cNvPr id="21" name="Text 18"/>
          <p:cNvSpPr/>
          <p:nvPr/>
        </p:nvSpPr>
        <p:spPr>
          <a:xfrm>
            <a:off x="2037993" y="5308997"/>
            <a:ext cx="40551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Dynamic Memory Management</a:t>
            </a:r>
            <a:endParaRPr lang="en-US" sz="2187" dirty="0"/>
          </a:p>
        </p:txBody>
      </p:sp>
      <p:sp>
        <p:nvSpPr>
          <p:cNvPr id="22" name="Text 19"/>
          <p:cNvSpPr/>
          <p:nvPr/>
        </p:nvSpPr>
        <p:spPr>
          <a:xfrm>
            <a:off x="2037993" y="6136600"/>
            <a:ext cx="4055150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 enables dynamic allocation and deallocation of memory, crucial for efficient memory usage in C.</a:t>
            </a:r>
            <a:endParaRPr lang="en-US" sz="1750" dirty="0"/>
          </a:p>
        </p:txBody>
      </p:sp>
      <p:pic>
        <p:nvPicPr>
          <p:cNvPr id="2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33886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4" name="Text 2"/>
          <p:cNvSpPr/>
          <p:nvPr/>
        </p:nvSpPr>
        <p:spPr>
          <a:xfrm>
            <a:off x="3077766" y="490538"/>
            <a:ext cx="8474869" cy="11149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390"/>
              </a:lnSpc>
              <a:buNone/>
            </a:pPr>
            <a:r>
              <a:rPr lang="en-US" sz="3512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Dynamic memory allocation using pointers</a:t>
            </a:r>
            <a:endParaRPr lang="en-US" sz="3512" dirty="0"/>
          </a:p>
        </p:txBody>
      </p:sp>
      <p:sp>
        <p:nvSpPr>
          <p:cNvPr id="5" name="Text 3"/>
          <p:cNvSpPr/>
          <p:nvPr/>
        </p:nvSpPr>
        <p:spPr>
          <a:xfrm>
            <a:off x="3363158" y="1962269"/>
            <a:ext cx="8189476" cy="2855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248"/>
              </a:lnSpc>
              <a:buSzPct val="100000"/>
              <a:buChar char="•"/>
            </a:pPr>
            <a:r>
              <a:rPr lang="en-US" sz="140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Dynamic memory allocation allows programs to request memory space dynamically during runtime.</a:t>
            </a:r>
            <a:endParaRPr lang="en-US" sz="1405" dirty="0"/>
          </a:p>
        </p:txBody>
      </p:sp>
      <p:sp>
        <p:nvSpPr>
          <p:cNvPr id="6" name="Text 4"/>
          <p:cNvSpPr/>
          <p:nvPr/>
        </p:nvSpPr>
        <p:spPr>
          <a:xfrm>
            <a:off x="3363158" y="2319099"/>
            <a:ext cx="8189476" cy="57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48"/>
              </a:lnSpc>
              <a:buSzPct val="100000"/>
              <a:buChar char="•"/>
            </a:pPr>
            <a:r>
              <a:rPr lang="en-US" sz="140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Pointers play a crucial role in dynamic memory allocation, as they are used to manage memory resources.</a:t>
            </a:r>
            <a:endParaRPr lang="en-US" sz="1405" dirty="0"/>
          </a:p>
        </p:txBody>
      </p:sp>
      <p:sp>
        <p:nvSpPr>
          <p:cNvPr id="7" name="Text 5"/>
          <p:cNvSpPr/>
          <p:nvPr/>
        </p:nvSpPr>
        <p:spPr>
          <a:xfrm>
            <a:off x="3363158" y="2961442"/>
            <a:ext cx="8189476" cy="57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48"/>
              </a:lnSpc>
              <a:buSzPct val="100000"/>
              <a:buChar char="•"/>
            </a:pPr>
            <a:r>
              <a:rPr lang="en-US" sz="140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Functions like malloc(), calloc(), realloc(), and free() are used for dynamic memory allocation in C programming.</a:t>
            </a:r>
            <a:endParaRPr lang="en-US" sz="1405" dirty="0"/>
          </a:p>
        </p:txBody>
      </p:sp>
      <p:sp>
        <p:nvSpPr>
          <p:cNvPr id="8" name="Text 6"/>
          <p:cNvSpPr/>
          <p:nvPr/>
        </p:nvSpPr>
        <p:spPr>
          <a:xfrm>
            <a:off x="3363158" y="3603784"/>
            <a:ext cx="8189476" cy="2855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248"/>
              </a:lnSpc>
              <a:buSzPct val="100000"/>
              <a:buChar char="•"/>
            </a:pPr>
            <a:r>
              <a:rPr lang="en-US" sz="140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Improper use of dynamic memory allocation can lead to memory leaks and erratic program behavior.</a:t>
            </a:r>
            <a:endParaRPr lang="en-US" sz="1405" dirty="0"/>
          </a:p>
        </p:txBody>
      </p:sp>
      <p:sp>
        <p:nvSpPr>
          <p:cNvPr id="9" name="Text 7"/>
          <p:cNvSpPr/>
          <p:nvPr/>
        </p:nvSpPr>
        <p:spPr>
          <a:xfrm>
            <a:off x="3363158" y="3960614"/>
            <a:ext cx="8189476" cy="57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48"/>
              </a:lnSpc>
              <a:buSzPct val="100000"/>
              <a:buChar char="•"/>
            </a:pPr>
            <a:r>
              <a:rPr lang="en-US" sz="140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Dynamic memory allocation is particularly useful for creating flexible data structures like linked lists, trees, and graphs.</a:t>
            </a:r>
            <a:endParaRPr lang="en-US" sz="1405" dirty="0"/>
          </a:p>
        </p:txBody>
      </p:sp>
      <p:sp>
        <p:nvSpPr>
          <p:cNvPr id="10" name="Text 8"/>
          <p:cNvSpPr/>
          <p:nvPr/>
        </p:nvSpPr>
        <p:spPr>
          <a:xfrm>
            <a:off x="3363158" y="4602956"/>
            <a:ext cx="8189476" cy="57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48"/>
              </a:lnSpc>
              <a:buSzPct val="100000"/>
              <a:buChar char="•"/>
            </a:pPr>
            <a:r>
              <a:rPr lang="en-US" sz="140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 is essential to handle memory deallocation properly to avoid memory leaks and optimize memory usage.</a:t>
            </a:r>
            <a:endParaRPr lang="en-US" sz="1405" dirty="0"/>
          </a:p>
        </p:txBody>
      </p:sp>
      <p:sp>
        <p:nvSpPr>
          <p:cNvPr id="11" name="Text 9"/>
          <p:cNvSpPr/>
          <p:nvPr/>
        </p:nvSpPr>
        <p:spPr>
          <a:xfrm>
            <a:off x="3363158" y="5245298"/>
            <a:ext cx="8189476" cy="57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48"/>
              </a:lnSpc>
              <a:buSzPct val="100000"/>
              <a:buChar char="•"/>
            </a:pPr>
            <a:r>
              <a:rPr lang="en-US" sz="140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When allocating memory dynamically, it's important to check for NULL pointers to handle allocation failure gracefully.</a:t>
            </a:r>
            <a:endParaRPr lang="en-US" sz="1405" dirty="0"/>
          </a:p>
        </p:txBody>
      </p:sp>
      <p:sp>
        <p:nvSpPr>
          <p:cNvPr id="12" name="Text 10"/>
          <p:cNvSpPr/>
          <p:nvPr/>
        </p:nvSpPr>
        <p:spPr>
          <a:xfrm>
            <a:off x="3363158" y="5887641"/>
            <a:ext cx="8189476" cy="57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48"/>
              </a:lnSpc>
              <a:buSzPct val="100000"/>
              <a:buChar char="•"/>
            </a:pPr>
            <a:r>
              <a:rPr lang="en-US" sz="140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Dynamic memory allocation is a powerful feature, but it requires a good understanding of memory management and error handling.</a:t>
            </a:r>
            <a:endParaRPr lang="en-US" sz="1405" dirty="0"/>
          </a:p>
        </p:txBody>
      </p:sp>
      <p:sp>
        <p:nvSpPr>
          <p:cNvPr id="13" name="Text 11"/>
          <p:cNvSpPr/>
          <p:nvPr/>
        </p:nvSpPr>
        <p:spPr>
          <a:xfrm>
            <a:off x="3363158" y="6529983"/>
            <a:ext cx="8189476" cy="57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48"/>
              </a:lnSpc>
              <a:buSzPct val="100000"/>
              <a:buChar char="•"/>
            </a:pPr>
            <a:r>
              <a:rPr lang="en-US" sz="140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Memory allocated using dynamic memory allocation should be released using the free() function to avoid memory leaks.</a:t>
            </a:r>
            <a:endParaRPr lang="en-US" sz="1405" dirty="0"/>
          </a:p>
        </p:txBody>
      </p:sp>
      <p:sp>
        <p:nvSpPr>
          <p:cNvPr id="14" name="Text 12"/>
          <p:cNvSpPr/>
          <p:nvPr/>
        </p:nvSpPr>
        <p:spPr>
          <a:xfrm>
            <a:off x="3363158" y="7172325"/>
            <a:ext cx="8189476" cy="57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48"/>
              </a:lnSpc>
              <a:buSzPct val="100000"/>
              <a:buChar char="•"/>
            </a:pPr>
            <a:r>
              <a:rPr lang="en-US" sz="1405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Care should be taken to avoid memory fragmentation when using dynamic memory allocation extensively.</a:t>
            </a:r>
            <a:endParaRPr lang="en-US" sz="1405" dirty="0"/>
          </a:p>
        </p:txBody>
      </p:sp>
      <p:pic>
        <p:nvPicPr>
          <p:cNvPr id="15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453318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4" name="Text 2"/>
          <p:cNvSpPr/>
          <p:nvPr/>
        </p:nvSpPr>
        <p:spPr>
          <a:xfrm>
            <a:off x="3621167" y="427673"/>
            <a:ext cx="5716310" cy="48601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827"/>
              </a:lnSpc>
              <a:buNone/>
            </a:pPr>
            <a:r>
              <a:rPr lang="en-US" sz="3062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Dynamic Memory Allocation</a:t>
            </a:r>
            <a:endParaRPr lang="en-US" sz="3062" dirty="0"/>
          </a:p>
        </p:txBody>
      </p:sp>
      <p:sp>
        <p:nvSpPr>
          <p:cNvPr id="5" name="Text 3"/>
          <p:cNvSpPr/>
          <p:nvPr/>
        </p:nvSpPr>
        <p:spPr>
          <a:xfrm>
            <a:off x="3621167" y="1224677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endParaRPr lang="en-US" sz="1225" dirty="0"/>
          </a:p>
        </p:txBody>
      </p:sp>
      <p:sp>
        <p:nvSpPr>
          <p:cNvPr id="6" name="Shape 4"/>
          <p:cNvSpPr/>
          <p:nvPr/>
        </p:nvSpPr>
        <p:spPr>
          <a:xfrm>
            <a:off x="3621167" y="1648301"/>
            <a:ext cx="7388066" cy="5953720"/>
          </a:xfrm>
          <a:prstGeom prst="roundRect">
            <a:avLst>
              <a:gd name="adj" fmla="val 1567"/>
            </a:avLst>
          </a:prstGeom>
          <a:solidFill>
            <a:srgbClr val="F5F2EF"/>
          </a:solidFill>
          <a:ln/>
        </p:spPr>
      </p:sp>
      <p:sp>
        <p:nvSpPr>
          <p:cNvPr id="7" name="Shape 5"/>
          <p:cNvSpPr/>
          <p:nvPr/>
        </p:nvSpPr>
        <p:spPr>
          <a:xfrm>
            <a:off x="3613428" y="1648301"/>
            <a:ext cx="7403544" cy="5953720"/>
          </a:xfrm>
          <a:prstGeom prst="roundRect">
            <a:avLst>
              <a:gd name="adj" fmla="val 392"/>
            </a:avLst>
          </a:prstGeom>
          <a:solidFill>
            <a:srgbClr val="F5F2EF"/>
          </a:solidFill>
          <a:ln/>
        </p:spPr>
      </p:sp>
      <p:sp>
        <p:nvSpPr>
          <p:cNvPr id="8" name="Text 6"/>
          <p:cNvSpPr/>
          <p:nvPr/>
        </p:nvSpPr>
        <p:spPr>
          <a:xfrm>
            <a:off x="3768923" y="1764863"/>
            <a:ext cx="7092553" cy="57205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225" dirty="0">
                <a:solidFill>
                  <a:srgbClr val="746558"/>
                </a:solidFill>
                <a:highlight>
                  <a:srgbClr val="F5F2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
#include &lt;stdlib.h&gt;
int main()
{
int *arr;
int size;
printf("Enter the size of the array: ");
scanf("%d", &amp;size);
arr = (int *)malloc(size * sizeof(int));
if (arr == NULL) {
    printf("Memory allocation failed\n");
    return 1;
}
printf("Dynamic memory allocation successful\n");
// Code to use the dynamically allocated array goes here
// Don't forget to free the allocated memory
free(arr);
return 0;
}
</a:t>
            </a:r>
            <a:endParaRPr lang="en-US" sz="1225" dirty="0"/>
          </a:p>
        </p:txBody>
      </p:sp>
      <p:sp>
        <p:nvSpPr>
          <p:cNvPr id="9" name="Text 7"/>
          <p:cNvSpPr/>
          <p:nvPr/>
        </p:nvSpPr>
        <p:spPr>
          <a:xfrm>
            <a:off x="3621167" y="7776924"/>
            <a:ext cx="738806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1960"/>
              </a:lnSpc>
              <a:buNone/>
            </a:pPr>
            <a:endParaRPr lang="en-US" sz="1225" dirty="0"/>
          </a:p>
        </p:txBody>
      </p:sp>
      <p:pic>
        <p:nvPicPr>
          <p:cNvPr id="10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2024-03-18T16:04:01Z</dcterms:created>
  <dcterms:modified xsi:type="dcterms:W3CDTF">2024-03-18T16:04:01Z</dcterms:modified>
</cp:coreProperties>
</file>